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66" r:id="rId6"/>
    <p:sldId id="265" r:id="rId7"/>
    <p:sldId id="260" r:id="rId8"/>
    <p:sldId id="261" r:id="rId9"/>
    <p:sldId id="26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97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5A048-73CE-47A8-A311-C365804D272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A30FB-2445-42FB-B8C1-9E4A3A1D8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4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B478C-A82E-4854-A902-267B71C087B2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53A5E-B1DC-4FF8-9276-3F3A0232569A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4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90FE-AFA2-43D1-A9E4-76C9C7DF4DA3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4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EFF7-A7BD-4694-875D-156DE00DED85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0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6B8E6-BEA6-419A-B50B-AD55E3E09EB9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8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1E3B6-AB06-43CA-BDD6-F5D8C00A24F7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3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564DD-8D7C-4501-94F8-02A527DDC363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3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60BE-E23C-4034-9D0B-B85B2FED0123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4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9CA0B-B4E0-4222-B40C-A973E6BB669F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4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EB4F-4577-4DD5-9FEF-AF0DD0EDBEC0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D1AEB-EE8D-42FC-A049-F1B73CD6339A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0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20C93D4B-8891-457E-90A5-F02FF41009F9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Heartshaped platelets suspended in the air">
            <a:extLst>
              <a:ext uri="{FF2B5EF4-FFF2-40B4-BE49-F238E27FC236}">
                <a16:creationId xmlns:a16="http://schemas.microsoft.com/office/drawing/2014/main" id="{54ACC844-754D-7444-C62A-AC6D334C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68" b="14832"/>
          <a:stretch>
            <a:fillRect/>
          </a:stretch>
        </p:blipFill>
        <p:spPr>
          <a:xfrm>
            <a:off x="20" y="-2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4F9D8-63CD-B2B6-9CAB-78CE4AB70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5" y="603315"/>
            <a:ext cx="7239709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6000" dirty="0">
                <a:latin typeface="Aptos" panose="020B0004020202020204" pitchFamily="34" charset="0"/>
              </a:rPr>
              <a:t>Heart Disease: </a:t>
            </a:r>
            <a:br>
              <a:rPr lang="en-US" sz="6000" dirty="0">
                <a:latin typeface="Aptos" panose="020B0004020202020204" pitchFamily="34" charset="0"/>
              </a:rPr>
            </a:br>
            <a:r>
              <a:rPr lang="en-US" i="1" dirty="0">
                <a:latin typeface="Aptos" panose="020B0004020202020204" pitchFamily="34" charset="0"/>
              </a:rPr>
              <a:t>The Path to its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4BC69-10AE-C631-9E90-9ECFBAA69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 fontScale="92500" lnSpcReduction="10000"/>
          </a:bodyPr>
          <a:lstStyle/>
          <a:p>
            <a:pPr algn="l"/>
            <a:r>
              <a:rPr lang="en-US" sz="2200" dirty="0">
                <a:latin typeface="Aptos" panose="020B0004020202020204" pitchFamily="34" charset="0"/>
              </a:rPr>
              <a:t>Exploring Use of Machine Learning for Prediction </a:t>
            </a:r>
          </a:p>
          <a:p>
            <a:pPr algn="l"/>
            <a:r>
              <a:rPr lang="en-US" sz="2200" b="1" i="1" dirty="0">
                <a:latin typeface="Aptos" panose="020B0004020202020204" pitchFamily="34" charset="0"/>
              </a:rPr>
              <a:t>John Katsoulakis</a:t>
            </a:r>
          </a:p>
        </p:txBody>
      </p:sp>
    </p:spTree>
    <p:extLst>
      <p:ext uri="{BB962C8B-B14F-4D97-AF65-F5344CB8AC3E}">
        <p14:creationId xmlns:p14="http://schemas.microsoft.com/office/powerpoint/2010/main" val="1180815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A7F70-B551-443F-5D6B-68BF010CF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2678" y="1358612"/>
            <a:ext cx="5304521" cy="468150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ptos" panose="020B0004020202020204" pitchFamily="34" charset="0"/>
              </a:rPr>
              <a:t>Why is prediction of a heart disease important?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Aptos" panose="020B0004020202020204" pitchFamily="34" charset="0"/>
              </a:rPr>
              <a:t>The leading cause of death globally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Aptos" panose="020B0004020202020204" pitchFamily="34" charset="0"/>
              </a:rPr>
              <a:t>9 million people died from heart disease in 2019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Aptos" panose="020B0004020202020204" pitchFamily="34" charset="0"/>
              </a:rPr>
              <a:t>30% increase in the number of deaths over 20 years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800" dirty="0">
              <a:latin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Aptos" panose="020B0004020202020204" pitchFamily="34" charset="0"/>
              </a:rPr>
              <a:t>What is this project about ?</a:t>
            </a:r>
          </a:p>
          <a:p>
            <a:pPr>
              <a:spcBef>
                <a:spcPts val="0"/>
              </a:spcBef>
            </a:pPr>
            <a:r>
              <a:rPr lang="en-US" sz="1600" dirty="0">
                <a:latin typeface="Aptos" panose="020B0004020202020204" pitchFamily="34" charset="0"/>
              </a:rPr>
              <a:t>A student’s attempt to predict accurately whether a person has a heart disease or not applying machine-learning modeling into real-world data</a:t>
            </a:r>
            <a:endParaRPr lang="en-US" sz="1800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Chart: The World's Leading Causes Of Death | Statista">
            <a:extLst>
              <a:ext uri="{FF2B5EF4-FFF2-40B4-BE49-F238E27FC236}">
                <a16:creationId xmlns:a16="http://schemas.microsoft.com/office/drawing/2014/main" id="{585037D8-45F9-F0F0-9FE5-73D2B2F85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4675" y="1358613"/>
            <a:ext cx="5786269" cy="468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CCAC-E3E0-4F15-4F4D-32B200C9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2</a:t>
            </a:fld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32371D-4F2A-7A5B-DB1C-D8B63A5DF96F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9731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ptos" panose="020B0004020202020204" pitchFamily="34" charset="0"/>
              </a:rPr>
              <a:t>Heart Disease and stroke (HD) the leading causes of death globally</a:t>
            </a:r>
            <a:endParaRPr lang="en-US" sz="2400" b="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01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C19FA-C4F6-6D43-D705-04F206D5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DDFA1-CAA2-1A21-F22B-DA6326B4B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40" y="473829"/>
            <a:ext cx="11294162" cy="9731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Ten different predictive variables of different types used</a:t>
            </a:r>
            <a:br>
              <a:rPr lang="en-US" sz="2800" b="0" dirty="0">
                <a:latin typeface="Aptos" panose="020B0004020202020204" pitchFamily="34" charset="0"/>
              </a:rPr>
            </a:br>
            <a:r>
              <a:rPr lang="en-US" sz="2400" b="0" dirty="0">
                <a:latin typeface="Aptos" panose="020B0004020202020204" pitchFamily="34" charset="0"/>
              </a:rPr>
              <a:t>Both demographics (e.g., age) and health-related (e.g., total cholesterol)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83FED3-CDB1-545D-F5C3-2285F585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11" y="1778654"/>
            <a:ext cx="4582602" cy="384048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140AE0-CA3B-8B4C-0AA5-8248FE8AF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2279" y="3170737"/>
            <a:ext cx="5559552" cy="10563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38ECF2-978B-E209-443D-BB975449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3</a:t>
            </a:fld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E60EDF-358E-00FE-80BF-60EA55CFB17E}"/>
              </a:ext>
            </a:extLst>
          </p:cNvPr>
          <p:cNvSpPr/>
          <p:nvPr/>
        </p:nvSpPr>
        <p:spPr>
          <a:xfrm>
            <a:off x="1630663" y="4986306"/>
            <a:ext cx="4582602" cy="1885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C9A923-70DD-9D83-7C51-1344A36AA5AD}"/>
              </a:ext>
            </a:extLst>
          </p:cNvPr>
          <p:cNvSpPr/>
          <p:nvPr/>
        </p:nvSpPr>
        <p:spPr>
          <a:xfrm>
            <a:off x="1457009" y="2763297"/>
            <a:ext cx="4873450" cy="4074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D03CB-A60B-7AF9-55A3-31E31564CBC7}"/>
              </a:ext>
            </a:extLst>
          </p:cNvPr>
          <p:cNvSpPr/>
          <p:nvPr/>
        </p:nvSpPr>
        <p:spPr>
          <a:xfrm>
            <a:off x="1457009" y="3166194"/>
            <a:ext cx="4873450" cy="182011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3DE54-30DB-FC96-B0CD-63303338D78D}"/>
              </a:ext>
            </a:extLst>
          </p:cNvPr>
          <p:cNvSpPr txBox="1">
            <a:spLocks/>
          </p:cNvSpPr>
          <p:nvPr/>
        </p:nvSpPr>
        <p:spPr>
          <a:xfrm>
            <a:off x="0" y="2832492"/>
            <a:ext cx="1457009" cy="2724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400" dirty="0">
                <a:latin typeface="Aptos" panose="020B0004020202020204" pitchFamily="34" charset="0"/>
              </a:rPr>
              <a:t>Demographics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1A715-1360-CAB6-32D4-59CA916D4D2E}"/>
              </a:ext>
            </a:extLst>
          </p:cNvPr>
          <p:cNvSpPr txBox="1">
            <a:spLocks/>
          </p:cNvSpPr>
          <p:nvPr/>
        </p:nvSpPr>
        <p:spPr>
          <a:xfrm>
            <a:off x="0" y="3954603"/>
            <a:ext cx="1457009" cy="2724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400" dirty="0">
                <a:latin typeface="Aptos" panose="020B0004020202020204" pitchFamily="34" charset="0"/>
              </a:rPr>
              <a:t>Health metrics</a:t>
            </a:r>
          </a:p>
        </p:txBody>
      </p:sp>
    </p:spTree>
    <p:extLst>
      <p:ext uri="{BB962C8B-B14F-4D97-AF65-F5344CB8AC3E}">
        <p14:creationId xmlns:p14="http://schemas.microsoft.com/office/powerpoint/2010/main" val="31585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905E9-10CA-01D6-9774-3D385FE02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8" y="2441274"/>
            <a:ext cx="5173647" cy="157796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6019-5925-FE89-4428-7388FDF93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7304" y="1948903"/>
            <a:ext cx="4454771" cy="3236045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en-US" b="1" i="1" dirty="0">
                <a:latin typeface="Aptos" panose="020B0004020202020204" pitchFamily="34" charset="0"/>
              </a:rPr>
              <a:t>A four-step process</a:t>
            </a:r>
          </a:p>
          <a:p>
            <a:pPr marL="0" indent="0" algn="ctr">
              <a:buNone/>
            </a:pPr>
            <a:endParaRPr lang="en-US" sz="800" b="1" i="1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Exploratory Data Analysis (EDA)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Data Cleaning &amp; Preprocessing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Model Selection &amp; Training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Results &amp; Evaluation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A7D4EF-CE36-61C9-6726-9C96CE1ABEAC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641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ptos" panose="020B0004020202020204" pitchFamily="34" charset="0"/>
              </a:rPr>
              <a:t>A four-step process leveraging Machine Learning</a:t>
            </a:r>
            <a:endParaRPr lang="en-US" sz="2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C6F38F-49B6-BF21-F0BC-42DB1CF1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4</a:t>
            </a:fld>
            <a:endParaRPr lang="en-US" sz="1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2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1F8D0-BAA9-7ADD-282D-33E66FBF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Rectangle 2071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A71B9F-3063-B0EA-4753-0734C897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" r="2992" b="1"/>
          <a:stretch>
            <a:fillRect/>
          </a:stretch>
        </p:blipFill>
        <p:spPr>
          <a:xfrm>
            <a:off x="492940" y="1438728"/>
            <a:ext cx="5335103" cy="251434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064A3E2-40F8-F5D5-A2A2-96B72D667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6" r="4763" b="5804"/>
          <a:stretch>
            <a:fillRect/>
          </a:stretch>
        </p:blipFill>
        <p:spPr>
          <a:xfrm>
            <a:off x="492940" y="4178508"/>
            <a:ext cx="5357767" cy="265436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684E7A-1355-52E7-577E-3EC6F4ADE79E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9731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>
                <a:latin typeface="Aptos" panose="020B0004020202020204" pitchFamily="34" charset="0"/>
              </a:rPr>
              <a:t>EDA: Analyzing the data distribution for each variable and… </a:t>
            </a:r>
            <a:br>
              <a:rPr lang="en-US" sz="2500" b="0" dirty="0">
                <a:latin typeface="Aptos" panose="020B0004020202020204" pitchFamily="34" charset="0"/>
              </a:rPr>
            </a:br>
            <a:r>
              <a:rPr lang="en-US" sz="2500" b="0" dirty="0">
                <a:latin typeface="Aptos" panose="020B0004020202020204" pitchFamily="34" charset="0"/>
              </a:rPr>
              <a:t>…checking for outliers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24653-2C07-75EC-04B6-5B8F6D47512F}"/>
              </a:ext>
            </a:extLst>
          </p:cNvPr>
          <p:cNvSpPr txBox="1">
            <a:spLocks/>
          </p:cNvSpPr>
          <p:nvPr/>
        </p:nvSpPr>
        <p:spPr>
          <a:xfrm>
            <a:off x="6140021" y="1438728"/>
            <a:ext cx="5559039" cy="25143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57 y.o. the median age for patients with heart disease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Those with heart disease are, on average, older by 5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Still there are four outliers – patients younger than 36 years old having heart disease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922C7-3B95-DEE0-8B0F-8B7FAA9B881B}"/>
              </a:ext>
            </a:extLst>
          </p:cNvPr>
          <p:cNvSpPr txBox="1">
            <a:spLocks/>
          </p:cNvSpPr>
          <p:nvPr/>
        </p:nvSpPr>
        <p:spPr>
          <a:xfrm>
            <a:off x="6140021" y="4178508"/>
            <a:ext cx="5559039" cy="25143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Majority of patients with heart disease between the ages of 52 and 62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Still, there are four outliers – patients younger than 35 years old having heart disease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724362-05BD-2380-B770-56D24FB3517C}"/>
              </a:ext>
            </a:extLst>
          </p:cNvPr>
          <p:cNvSpPr/>
          <p:nvPr/>
        </p:nvSpPr>
        <p:spPr>
          <a:xfrm>
            <a:off x="763676" y="1358341"/>
            <a:ext cx="5014127" cy="229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b="1" i="1" dirty="0">
                <a:solidFill>
                  <a:schemeClr val="tx1"/>
                </a:solidFill>
              </a:rPr>
              <a:t>Data Analysis : </a:t>
            </a:r>
            <a:r>
              <a:rPr lang="de-DE" sz="1100" dirty="0">
                <a:solidFill>
                  <a:schemeClr val="tx1"/>
                </a:solidFill>
              </a:rPr>
              <a:t>Age distribution by people-group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712BC9-3C8D-995C-5FE7-C512B9533E10}"/>
              </a:ext>
            </a:extLst>
          </p:cNvPr>
          <p:cNvSpPr/>
          <p:nvPr/>
        </p:nvSpPr>
        <p:spPr>
          <a:xfrm>
            <a:off x="763676" y="3923184"/>
            <a:ext cx="5014127" cy="229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b="1" i="1" dirty="0">
                <a:solidFill>
                  <a:schemeClr val="tx1"/>
                </a:solidFill>
              </a:rPr>
              <a:t>Data Analysis : </a:t>
            </a:r>
            <a:r>
              <a:rPr lang="de-DE" sz="1100" dirty="0">
                <a:solidFill>
                  <a:schemeClr val="tx1"/>
                </a:solidFill>
              </a:rPr>
              <a:t>Age outliers in patients with heart disease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C579A9-3CC8-34FB-AA05-AE7E5A7F79DF}"/>
              </a:ext>
            </a:extLst>
          </p:cNvPr>
          <p:cNvSpPr/>
          <p:nvPr/>
        </p:nvSpPr>
        <p:spPr>
          <a:xfrm>
            <a:off x="844062" y="5868235"/>
            <a:ext cx="622997" cy="7702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80CC74-0FE8-60D8-B290-22231BDEECB2}"/>
              </a:ext>
            </a:extLst>
          </p:cNvPr>
          <p:cNvSpPr/>
          <p:nvPr/>
        </p:nvSpPr>
        <p:spPr>
          <a:xfrm>
            <a:off x="5154806" y="5868235"/>
            <a:ext cx="622997" cy="7702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31CF3B-B592-221F-6F5E-C190D27B1744}"/>
              </a:ext>
            </a:extLst>
          </p:cNvPr>
          <p:cNvSpPr/>
          <p:nvPr/>
        </p:nvSpPr>
        <p:spPr>
          <a:xfrm>
            <a:off x="11686233" y="0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A886057-B14A-5A43-A347-03ACA0DA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5</a:t>
            </a:fld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4DF4B9-A164-1341-EA62-C6621043BD05}"/>
              </a:ext>
            </a:extLst>
          </p:cNvPr>
          <p:cNvSpPr/>
          <p:nvPr/>
        </p:nvSpPr>
        <p:spPr>
          <a:xfrm>
            <a:off x="1627836" y="3641834"/>
            <a:ext cx="884254" cy="196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i="1" dirty="0">
                <a:solidFill>
                  <a:schemeClr val="tx1"/>
                </a:solidFill>
              </a:rPr>
              <a:t>NO HD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2D0518-ED82-D7B6-5BBF-55D7C1219F45}"/>
              </a:ext>
            </a:extLst>
          </p:cNvPr>
          <p:cNvSpPr/>
          <p:nvPr/>
        </p:nvSpPr>
        <p:spPr>
          <a:xfrm>
            <a:off x="4210262" y="3641834"/>
            <a:ext cx="884254" cy="196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i="1" dirty="0">
                <a:solidFill>
                  <a:schemeClr val="tx1"/>
                </a:solidFill>
              </a:rPr>
              <a:t>YES HD</a:t>
            </a:r>
            <a:endParaRPr lang="de-DE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63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5E2C43-0D0C-BA5B-9259-D2210135CEA9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973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ptos" panose="020B0004020202020204" pitchFamily="34" charset="0"/>
              </a:rPr>
              <a:t>EDA: Using pair-plots and correlation tables </a:t>
            </a:r>
            <a:br>
              <a:rPr lang="en-US" sz="2800" b="0" dirty="0">
                <a:latin typeface="Aptos" panose="020B0004020202020204" pitchFamily="34" charset="0"/>
              </a:rPr>
            </a:br>
            <a:r>
              <a:rPr lang="en-US" sz="2400" b="0" dirty="0">
                <a:latin typeface="Aptos" panose="020B0004020202020204" pitchFamily="34" charset="0"/>
              </a:rPr>
              <a:t>Oldpeak the best single predictor of Heart Disease followed by 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C03F9-0E4E-46A6-20FA-1DAADB2D8F37}"/>
              </a:ext>
            </a:extLst>
          </p:cNvPr>
          <p:cNvSpPr txBox="1">
            <a:spLocks/>
          </p:cNvSpPr>
          <p:nvPr/>
        </p:nvSpPr>
        <p:spPr>
          <a:xfrm>
            <a:off x="2699657" y="1692827"/>
            <a:ext cx="1671376" cy="4140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1" dirty="0">
                <a:latin typeface="Aptos" panose="020B0004020202020204" pitchFamily="34" charset="0"/>
              </a:rPr>
              <a:t>Pair-Plots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B9CD14-51E9-6EC5-49E3-38F99B12CEE6}"/>
              </a:ext>
            </a:extLst>
          </p:cNvPr>
          <p:cNvSpPr txBox="1">
            <a:spLocks/>
          </p:cNvSpPr>
          <p:nvPr/>
        </p:nvSpPr>
        <p:spPr>
          <a:xfrm>
            <a:off x="7368507" y="1692827"/>
            <a:ext cx="2523953" cy="4140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1" dirty="0">
                <a:latin typeface="Aptos" panose="020B0004020202020204" pitchFamily="34" charset="0"/>
              </a:rPr>
              <a:t>Correlation tables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B7A140-D7C6-AFBC-BAA5-C0B56AB6A60E}"/>
              </a:ext>
            </a:extLst>
          </p:cNvPr>
          <p:cNvSpPr/>
          <p:nvPr/>
        </p:nvSpPr>
        <p:spPr>
          <a:xfrm>
            <a:off x="11686233" y="0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7ACD0E-43B2-469D-1389-E46014E4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6</a:t>
            </a:fld>
            <a:endParaRPr lang="en-US" sz="1000">
              <a:latin typeface="Aptos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611299-AEE9-DCE4-B1E7-08D4CDC9E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861" y="2106875"/>
            <a:ext cx="5288661" cy="4346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FB434-1E22-7DBA-00E1-8F6E1D8CA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443" y="2191124"/>
            <a:ext cx="4518210" cy="438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2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9639F-0A73-ACD4-0005-CE43AC67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85" y="1715532"/>
            <a:ext cx="5837780" cy="427617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F4BDBE4-A2FE-5FFA-2936-05A9C10AB857}"/>
              </a:ext>
            </a:extLst>
          </p:cNvPr>
          <p:cNvSpPr/>
          <p:nvPr/>
        </p:nvSpPr>
        <p:spPr>
          <a:xfrm>
            <a:off x="11686233" y="0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098E1-F69D-877E-7493-E46C430569F7}"/>
              </a:ext>
            </a:extLst>
          </p:cNvPr>
          <p:cNvSpPr txBox="1">
            <a:spLocks/>
          </p:cNvSpPr>
          <p:nvPr/>
        </p:nvSpPr>
        <p:spPr>
          <a:xfrm>
            <a:off x="6475763" y="1715532"/>
            <a:ext cx="5559039" cy="42761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2000" b="1" dirty="0">
                <a:latin typeface="Aptos" panose="020B0004020202020204" pitchFamily="34" charset="0"/>
              </a:rPr>
              <a:t>Data…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Cleaned for any anomalies or wrong texting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Integrated into the database replacing zeros or null values with means or averages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Transformed through scaling (e.g., logarithmic transformation) to smoothen out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Reduced if, even after scaling, unusual outliers exist that may generate bias to the model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696584-DAF4-8F44-4D38-1AD4BA3373C5}"/>
              </a:ext>
            </a:extLst>
          </p:cNvPr>
          <p:cNvSpPr/>
          <p:nvPr/>
        </p:nvSpPr>
        <p:spPr>
          <a:xfrm>
            <a:off x="1205802" y="3656897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Aptos" panose="020B0004020202020204" pitchFamily="34" charset="0"/>
              </a:rPr>
              <a:t>2a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4296C0-7FA0-5631-475C-A1FFA61509E6}"/>
              </a:ext>
            </a:extLst>
          </p:cNvPr>
          <p:cNvSpPr/>
          <p:nvPr/>
        </p:nvSpPr>
        <p:spPr>
          <a:xfrm>
            <a:off x="2542233" y="2356222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Aptos" panose="020B0004020202020204" pitchFamily="34" charset="0"/>
              </a:rPr>
              <a:t>2b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7376A1-C13A-2087-39F4-42EB12619E98}"/>
              </a:ext>
            </a:extLst>
          </p:cNvPr>
          <p:cNvSpPr/>
          <p:nvPr/>
        </p:nvSpPr>
        <p:spPr>
          <a:xfrm>
            <a:off x="5181462" y="3638517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Aptos" panose="020B0004020202020204" pitchFamily="34" charset="0"/>
              </a:rPr>
              <a:t>2c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ABD907-4255-363E-21F7-0317D1FCE899}"/>
              </a:ext>
            </a:extLst>
          </p:cNvPr>
          <p:cNvSpPr/>
          <p:nvPr/>
        </p:nvSpPr>
        <p:spPr>
          <a:xfrm>
            <a:off x="3985711" y="4864416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65EE09F-0C90-1215-BF55-2FCA7BEAC2DB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973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ptos" panose="020B0004020202020204" pitchFamily="34" charset="0"/>
              </a:rPr>
              <a:t>Data cleaning and pre-processing: 4 sub-steps followed</a:t>
            </a:r>
            <a:endParaRPr lang="en-US" sz="2400" b="0" dirty="0">
              <a:latin typeface="Aptos" panose="020B0004020202020204" pitchFamily="34" charset="0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35C8612-9800-8B9D-D952-195B2B19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7</a:t>
            </a:fld>
            <a:endParaRPr lang="en-US" sz="1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95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52DD7E-0D92-9D3A-651D-99D6FFB4977E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9731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dirty="0">
                <a:latin typeface="Aptos" panose="020B0004020202020204" pitchFamily="34" charset="0"/>
              </a:rPr>
              <a:t>Model Selection and Training</a:t>
            </a:r>
            <a:br>
              <a:rPr lang="en-US" sz="2500" b="0" dirty="0">
                <a:latin typeface="Aptos" panose="020B0004020202020204" pitchFamily="34" charset="0"/>
              </a:rPr>
            </a:br>
            <a:r>
              <a:rPr lang="en-US" sz="2500" b="0" dirty="0">
                <a:latin typeface="Aptos" panose="020B0004020202020204" pitchFamily="34" charset="0"/>
              </a:rPr>
              <a:t>6 ML models used to predict whether a person has heart disease or not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E591A-FB21-24AF-7399-CE331E4A8C36}"/>
              </a:ext>
            </a:extLst>
          </p:cNvPr>
          <p:cNvSpPr/>
          <p:nvPr/>
        </p:nvSpPr>
        <p:spPr>
          <a:xfrm>
            <a:off x="1221181" y="5705873"/>
            <a:ext cx="10018044" cy="8092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In all models we used a train-test split to allocate the data into a testing and a training set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25AB4CC-6AC9-C549-9EB6-86768575C2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14438" y="1403796"/>
            <a:ext cx="4113212" cy="5302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Tree-Based Models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E46EC891-461A-F03F-7835-6C7F91E1E23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14438" y="1934021"/>
            <a:ext cx="4113212" cy="3602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 b="1" dirty="0">
                <a:latin typeface="Aptos" panose="020B0004020202020204" pitchFamily="34" charset="0"/>
              </a:rPr>
              <a:t>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sz="16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 b="1" dirty="0">
                <a:latin typeface="Aptos" panose="020B0004020202020204" pitchFamily="34" charset="0"/>
              </a:rPr>
              <a:t>Random Forests</a:t>
            </a:r>
            <a:endParaRPr lang="en-GB" altLang="en-US" sz="1600" dirty="0">
              <a:latin typeface="Aptos" panose="020B0004020202020204" pitchFamily="34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D24344A1-76D2-92AA-B71A-56AFF2EDB8D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26012" y="1403796"/>
            <a:ext cx="4113213" cy="5302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Non-Tree Based Models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18083E6-2EB9-3264-043A-83B9C2D9D7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26012" y="1934021"/>
            <a:ext cx="4113213" cy="3602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accent1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88925" indent="-17462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69913" indent="-166688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39875" indent="-168275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K Nearest Neighbors (KNN)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Support Vector Machine (SVM)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Naïve Bayes Classifier</a:t>
            </a:r>
            <a:endParaRPr lang="en-GB" altLang="en-US" sz="1600" b="1" dirty="0">
              <a:latin typeface="Aptos" panose="020B00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3EE399-73C2-CC1D-9893-40280E05B8EE}"/>
              </a:ext>
            </a:extLst>
          </p:cNvPr>
          <p:cNvSpPr/>
          <p:nvPr/>
        </p:nvSpPr>
        <p:spPr>
          <a:xfrm>
            <a:off x="11686233" y="0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2286FBE-B88F-5735-680E-701078BB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8</a:t>
            </a:fld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79E632-FAE1-8EF4-0C18-E3944DB0E036}"/>
              </a:ext>
            </a:extLst>
          </p:cNvPr>
          <p:cNvSpPr/>
          <p:nvPr/>
        </p:nvSpPr>
        <p:spPr>
          <a:xfrm>
            <a:off x="952775" y="1455671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Aptos" panose="020B0004020202020204" pitchFamily="34" charset="0"/>
              </a:rPr>
              <a:t>3a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E7397A3-EB4F-EAD1-C5AA-B0A2212E6EC8}"/>
              </a:ext>
            </a:extLst>
          </p:cNvPr>
          <p:cNvSpPr/>
          <p:nvPr/>
        </p:nvSpPr>
        <p:spPr>
          <a:xfrm>
            <a:off x="6864352" y="1455671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  <a:latin typeface="Aptos" panose="020B0004020202020204" pitchFamily="34" charset="0"/>
              </a:rPr>
              <a:t>3b</a:t>
            </a:r>
          </a:p>
        </p:txBody>
      </p:sp>
    </p:spTree>
    <p:extLst>
      <p:ext uri="{BB962C8B-B14F-4D97-AF65-F5344CB8AC3E}">
        <p14:creationId xmlns:p14="http://schemas.microsoft.com/office/powerpoint/2010/main" val="2549588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A76FB-536B-1E6A-B8FB-79B08AFC0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BF521BE-6015-BF40-87C7-85B849411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5037FDB-E44C-8A42-665C-CC8026A7E6EA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699060" cy="9731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latin typeface="Aptos" panose="020B0004020202020204" pitchFamily="34" charset="0"/>
              </a:rPr>
              <a:t>Model Results and Assessment: A process of three sub-steps</a:t>
            </a:r>
            <a:br>
              <a:rPr lang="en-US" sz="2500" b="0" dirty="0">
                <a:latin typeface="Aptos" panose="020B0004020202020204" pitchFamily="34" charset="0"/>
              </a:rPr>
            </a:br>
            <a:r>
              <a:rPr lang="en-US" sz="2500" b="0" dirty="0">
                <a:latin typeface="Aptos" panose="020B0004020202020204" pitchFamily="34" charset="0"/>
              </a:rPr>
              <a:t>Random Forest best model after tuning with chest pain the most critical predictive feature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2FA637-DF7F-72EE-80EE-32F899E1281D}"/>
              </a:ext>
            </a:extLst>
          </p:cNvPr>
          <p:cNvSpPr/>
          <p:nvPr/>
        </p:nvSpPr>
        <p:spPr>
          <a:xfrm>
            <a:off x="11686233" y="0"/>
            <a:ext cx="472272" cy="3934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ptos" panose="020B0004020202020204" pitchFamily="34" charset="0"/>
              </a:rP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5DF821-FCF9-12E2-4744-D302B2024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93"/>
          <a:stretch>
            <a:fillRect/>
          </a:stretch>
        </p:blipFill>
        <p:spPr>
          <a:xfrm>
            <a:off x="252293" y="2185519"/>
            <a:ext cx="3645739" cy="2657786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9DACBC60-5A24-4BEC-02E8-3B7D1AE557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30632" y="1390567"/>
            <a:ext cx="3898525" cy="5302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Step 4a: Initial assessment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4B5F47B-57E4-BB0A-5680-772E146CE2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139688" y="1390567"/>
            <a:ext cx="3898525" cy="5302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Step 4b: Fine-tuning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03102AA-8526-B71B-D2A5-7AFCA39906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49452" y="1390567"/>
            <a:ext cx="3898525" cy="5302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2"/>
            </a:solidFill>
            <a:miter lim="800000"/>
            <a:headEnd type="none" w="lg" len="lg"/>
            <a:tailEnd type="none" w="lg" len="lg"/>
          </a:ln>
          <a:effectLst/>
        </p:spPr>
        <p:txBody>
          <a:bodyPr tIns="91440" bIns="91440" anchor="ctr"/>
          <a:lstStyle/>
          <a:p>
            <a:pPr algn="ctr"/>
            <a:r>
              <a:rPr lang="en-GB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Step 4c: Feature significance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DD14541-8C67-C752-44A6-B9B292FF6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968941"/>
              </p:ext>
            </p:extLst>
          </p:nvPr>
        </p:nvGraphicFramePr>
        <p:xfrm>
          <a:off x="4146737" y="2247897"/>
          <a:ext cx="3898525" cy="2595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325">
                  <a:extLst>
                    <a:ext uri="{9D8B030D-6E8A-4147-A177-3AD203B41FA5}">
                      <a16:colId xmlns:a16="http://schemas.microsoft.com/office/drawing/2014/main" val="1039149987"/>
                    </a:ext>
                  </a:extLst>
                </a:gridCol>
                <a:gridCol w="1636200">
                  <a:extLst>
                    <a:ext uri="{9D8B030D-6E8A-4147-A177-3AD203B41FA5}">
                      <a16:colId xmlns:a16="http://schemas.microsoft.com/office/drawing/2014/main" val="1919616106"/>
                    </a:ext>
                  </a:extLst>
                </a:gridCol>
              </a:tblGrid>
              <a:tr h="4513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ptos" panose="020B0004020202020204" pitchFamily="34" charset="0"/>
                        </a:rPr>
                        <a:t>Model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ptos" panose="020B0004020202020204" pitchFamily="34" charset="0"/>
                        </a:rPr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896206"/>
                  </a:ext>
                </a:extLst>
              </a:tr>
              <a:tr h="71467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ptos" panose="020B0004020202020204" pitchFamily="34" charset="0"/>
                        </a:rPr>
                        <a:t>Random </a:t>
                      </a:r>
                    </a:p>
                    <a:p>
                      <a:pPr algn="l"/>
                      <a:r>
                        <a:rPr lang="en-US" sz="1400" dirty="0">
                          <a:latin typeface="Aptos" panose="020B0004020202020204" pitchFamily="34" charset="0"/>
                        </a:rPr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0.8836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251424"/>
                  </a:ext>
                </a:extLst>
              </a:tr>
              <a:tr h="71467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ptos" panose="020B0004020202020204" pitchFamily="34" charset="0"/>
                        </a:rPr>
                        <a:t>Support Vector Machine (SVM)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0.8834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590053"/>
                  </a:ext>
                </a:extLst>
              </a:tr>
              <a:tr h="71467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ptos" panose="020B0004020202020204" pitchFamily="34" charset="0"/>
                        </a:rPr>
                        <a:t>K Nearest Neighbors </a:t>
                      </a:r>
                    </a:p>
                    <a:p>
                      <a:pPr algn="l"/>
                      <a:r>
                        <a:rPr lang="en-US" sz="1400" dirty="0">
                          <a:latin typeface="Aptos" panose="020B0004020202020204" pitchFamily="34" charset="0"/>
                        </a:rPr>
                        <a:t>(KNN)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ptos" panose="020B0004020202020204" pitchFamily="34" charset="0"/>
                        </a:rPr>
                        <a:t>0.8812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21140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2448623-983E-0C9E-566C-F0D7C9A686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130" b="-1"/>
          <a:stretch>
            <a:fillRect/>
          </a:stretch>
        </p:blipFill>
        <p:spPr>
          <a:xfrm>
            <a:off x="8149452" y="2247897"/>
            <a:ext cx="3898526" cy="26893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1D1827-2FFA-7D44-BCE7-B2EB0B87E9F0}"/>
              </a:ext>
            </a:extLst>
          </p:cNvPr>
          <p:cNvSpPr txBox="1">
            <a:spLocks/>
          </p:cNvSpPr>
          <p:nvPr/>
        </p:nvSpPr>
        <p:spPr>
          <a:xfrm>
            <a:off x="130632" y="5037404"/>
            <a:ext cx="3898525" cy="17351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KNN model seems to perform better overall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It is followed by Logistic Regression and SVM with minor differences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Decision tree with lower classification performance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58F7C-9727-CC54-2114-574A65B5050C}"/>
              </a:ext>
            </a:extLst>
          </p:cNvPr>
          <p:cNvSpPr txBox="1">
            <a:spLocks/>
          </p:cNvSpPr>
          <p:nvPr/>
        </p:nvSpPr>
        <p:spPr>
          <a:xfrm>
            <a:off x="4139688" y="5037404"/>
            <a:ext cx="3898525" cy="17351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Model adjustments through five-fold cross-validation and </a:t>
            </a:r>
            <a:r>
              <a:rPr lang="en-US" sz="1400" dirty="0">
                <a:latin typeface="Aptos" panose="020B0004020202020204" pitchFamily="34" charset="0"/>
              </a:rPr>
              <a:t>hyperparameter tuning</a:t>
            </a:r>
            <a:r>
              <a:rPr lang="de-DE" sz="1400" dirty="0">
                <a:latin typeface="Aptos" panose="020B0004020202020204" pitchFamily="34" charset="0"/>
              </a:rPr>
              <a:t>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Following tuning, Random Forest and SVM appear to be the best models classifying people best equally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C04122-9DB8-6244-50DC-4321D922A1D8}"/>
              </a:ext>
            </a:extLst>
          </p:cNvPr>
          <p:cNvSpPr txBox="1">
            <a:spLocks/>
          </p:cNvSpPr>
          <p:nvPr/>
        </p:nvSpPr>
        <p:spPr>
          <a:xfrm>
            <a:off x="8149452" y="5037404"/>
            <a:ext cx="3898525" cy="17351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Type of chest pain and exercise angina the features with highest predictive importance</a:t>
            </a:r>
            <a:endParaRPr lang="de-DE" sz="1400" dirty="0">
              <a:latin typeface="Aptos" panose="020B0004020202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Demographics such as age and gender seem to have smaller predictive significance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de-DE" sz="1400" dirty="0">
                <a:latin typeface="Aptos" panose="020B0004020202020204" pitchFamily="34" charset="0"/>
              </a:rPr>
              <a:t>Unexpectedly, total cholesterol seems to also have rather average importance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latin typeface="Aptos" panose="020B000402020202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4F1E6C3-AA08-5F9B-0836-74F97B8B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9</a:t>
            </a:fld>
            <a:endParaRPr lang="en-US" sz="1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238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F473C-45BF-CF44-9DEF-F3BE8845B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In this project we :</a:t>
            </a:r>
          </a:p>
          <a:p>
            <a:r>
              <a:rPr lang="en-US" dirty="0">
                <a:latin typeface="Aptos" panose="020B0004020202020204" pitchFamily="34" charset="0"/>
              </a:rPr>
              <a:t>Looked through the dataset and distinguished specific patterns</a:t>
            </a:r>
          </a:p>
          <a:p>
            <a:r>
              <a:rPr lang="en-US" dirty="0">
                <a:latin typeface="Aptos" panose="020B0004020202020204" pitchFamily="34" charset="0"/>
              </a:rPr>
              <a:t>Split the dataset into training and testing</a:t>
            </a:r>
          </a:p>
          <a:p>
            <a:r>
              <a:rPr lang="en-US" dirty="0">
                <a:latin typeface="Aptos" panose="020B0004020202020204" pitchFamily="34" charset="0"/>
              </a:rPr>
              <a:t>Trained and Tested the models and calculated some metrics to determine the most useful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92E773-7A56-8F28-5476-2DB0771E85D7}"/>
              </a:ext>
            </a:extLst>
          </p:cNvPr>
          <p:cNvSpPr txBox="1">
            <a:spLocks/>
          </p:cNvSpPr>
          <p:nvPr/>
        </p:nvSpPr>
        <p:spPr>
          <a:xfrm>
            <a:off x="492940" y="473829"/>
            <a:ext cx="11294162" cy="973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ptos" panose="020B0004020202020204" pitchFamily="34" charset="0"/>
              </a:rPr>
              <a:t>As a Summary</a:t>
            </a:r>
            <a:endParaRPr lang="en-US" sz="2400" b="0" dirty="0">
              <a:latin typeface="Aptos" panose="020B00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10A93-D389-E73C-C80B-06C13191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00" smtClean="0">
                <a:latin typeface="Aptos" panose="020B0004020202020204" pitchFamily="34" charset="0"/>
              </a:rPr>
              <a:t>10</a:t>
            </a:fld>
            <a:endParaRPr lang="en-US" sz="1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48463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608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Neue Haas Grotesk Text Pro</vt:lpstr>
      <vt:lpstr>Wingdings</vt:lpstr>
      <vt:lpstr>VanillaVTI</vt:lpstr>
      <vt:lpstr>Heart Disease:  The Path to its Prediction</vt:lpstr>
      <vt:lpstr>PowerPoint Presentation</vt:lpstr>
      <vt:lpstr>Ten different predictive variables of different types used Both demographics (e.g., age) and health-related (e.g., total cholesterol)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13</cp:revision>
  <dcterms:created xsi:type="dcterms:W3CDTF">2026-01-17T14:04:14Z</dcterms:created>
  <dcterms:modified xsi:type="dcterms:W3CDTF">2026-01-22T15:49:27Z</dcterms:modified>
</cp:coreProperties>
</file>